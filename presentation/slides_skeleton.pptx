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screen16x9"/>
  <p:notesSz cx="6858000" cy="9144000"/>
  <p:defaultTextStyle>
    <a:defPPr>
      <a:defRPr lang="vi-V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46E5" accent2="10B981" accent3="F59E0B" accent4="EC4899" accent5="0EA5E9" accent6="4338CA" bg1="FFFFFF" bg2="F8FAFC" tx1="0F172A" tx2="475569" hlink="4F46E5" folHlink="4338CA" lt1="FFFFFF" lt2="F8FAFC" dk1="0F172A" dk2="475569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0000" y="1600000"/>
            <a:ext cx="10500000" cy="11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4400" b="1">
                <a:solidFill>
                  <a:srgbClr val="4F46E5"/>
                </a:solidFill>
                <a:latin typeface="Be Vietnam Pro"/>
              </a:rPr>
              <a:t xml:space="preserve">LINKPULSE</a:t>
            </a:r>
            <a:endParaRPr lang="vi-VN" sz="4400"/>
          </a:p>
        </p:txBody>
      </p:sp>
      <p:sp>
        <p:nvSpPr>
          <p:cNvPr id="3" name="Text 3"/>
          <p:cNvSpPr txBox="1"/>
          <p:nvPr/>
        </p:nvSpPr>
        <p:spPr>
          <a:xfrm>
            <a:off x="840000" y="27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2100" b="1">
                <a:solidFill>
                  <a:srgbClr val="475569"/>
                </a:solidFill>
                <a:latin typeface="Be Vietnam Pro"/>
              </a:rPr>
              <a:t xml:space="preserve">H? TH?NG R?T G?N LI?N K?T TH?NG MINH</a:t>
            </a:r>
            <a:endParaRPr lang="vi-VN" sz="2100"/>
          </a:p>
        </p:txBody>
      </p:sp>
      <p:sp>
        <p:nvSpPr>
          <p:cNvPr id="4" name="Text 4"/>
          <p:cNvSpPr txBox="1"/>
          <p:nvPr/>
        </p:nvSpPr>
        <p:spPr>
          <a:xfrm>
            <a:off x="840000" y="390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900" b="0">
                <a:solidFill>
                  <a:srgbClr val="0F172A"/>
                </a:solidFill>
                <a:latin typeface="Be Vietnam Pro"/>
              </a:rPr>
              <a:t xml:space="preserve">?i?n to?n ??m m?y ? Serverless tr?n AWS</a:t>
            </a:r>
            <a:endParaRPr lang="vi-VN" sz="1900"/>
          </a:p>
        </p:txBody>
      </p:sp>
      <p:sp>
        <p:nvSpPr>
          <p:cNvPr id="5" name="Text 5"/>
          <p:cNvSpPr txBox="1"/>
          <p:nvPr/>
        </p:nvSpPr>
        <p:spPr>
          <a:xfrm>
            <a:off x="840000" y="450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0">
                <a:solidFill>
                  <a:srgbClr val="64748B"/>
                </a:solidFill>
                <a:latin typeface="Be Vietnam Pro"/>
              </a:rPr>
              <a:t xml:space="preserve">Nh?m 5 | TV2 ? Frontend &amp; Presentation</a:t>
            </a:r>
            <a:endParaRPr lang="vi-VN" sz="1700"/>
          </a:p>
        </p:txBody>
      </p:sp>
      <p:sp>
        <p:nvSpPr>
          <p:cNvPr id="99" name="Text 99"/>
          <p:cNvSpPr txBox="1"/>
          <p:nvPr/>
        </p:nvSpPr>
        <p:spPr>
          <a:xfrm>
            <a:off x="720000" y="638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900" b="0">
                <a:solidFill>
                  <a:srgbClr val="64748B"/>
                </a:solidFill>
                <a:latin typeface="Be Vietnam Pro"/>
              </a:rPr>
              <a:t xml:space="preserve">LinkPulse  |  Template 16:9  |  Be Vietnam Pro + JetBrains Mono</a:t>
            </a:r>
            <a:endParaRPr lang="vi-V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38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3000" b="1">
                <a:solidFill>
                  <a:srgbClr val="0F172A"/>
                </a:solidFill>
                <a:latin typeface="Be Vietnam Pro"/>
              </a:rPr>
              <a:t xml:space="preserve">N?i dung tr?nh b?y</a:t>
            </a:r>
            <a:endParaRPr lang="vi-VN" sz="3000"/>
          </a:p>
        </p:txBody>
      </p:sp>
      <p:sp>
        <p:nvSpPr>
          <p:cNvPr id="3" name="Text 3"/>
          <p:cNvSpPr txBox="1"/>
          <p:nvPr/>
        </p:nvSpPr>
        <p:spPr>
          <a:xfrm>
            <a:off x="720000" y="112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1">
                <a:solidFill>
                  <a:srgbClr val="4F46E5"/>
                </a:solidFill>
                <a:latin typeface="Be Vietnam Pro"/>
              </a:rPr>
              <a:t xml:space="preserve">M?ch c?u chuy?n</a:t>
            </a:r>
            <a:endParaRPr lang="vi-VN" sz="1700"/>
          </a:p>
        </p:txBody>
      </p:sp>
      <p:sp>
        <p:nvSpPr>
          <p:cNvPr id="4" name="Text 4"/>
          <p:cNvSpPr txBox="1"/>
          <p:nvPr/>
        </p:nvSpPr>
        <p:spPr>
          <a:xfrm>
            <a:off x="900000" y="1950000"/>
            <a:ext cx="10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0">
                <a:solidFill>
                  <a:srgbClr val="475569"/>
                </a:solidFill>
                <a:latin typeface="Be Vietnam Pro"/>
              </a:rPr>
              <a:t xml:space="preserve">? B?i to?n v? m?c ti?u</a:t>
            </a:r>
            <a:endParaRPr lang="vi-VN" sz="1700"/>
          </a:p>
        </p:txBody>
      </p:sp>
      <p:sp>
        <p:nvSpPr>
          <p:cNvPr id="5" name="Text 5"/>
          <p:cNvSpPr txBox="1"/>
          <p:nvPr/>
        </p:nvSpPr>
        <p:spPr>
          <a:xfrm>
            <a:off x="900000" y="2750000"/>
            <a:ext cx="10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0">
                <a:solidFill>
                  <a:srgbClr val="475569"/>
                </a:solidFill>
                <a:latin typeface="Be Vietnam Pro"/>
              </a:rPr>
              <a:t xml:space="preserve">? Ki?n tr?c v? c?c module</a:t>
            </a:r>
            <a:endParaRPr lang="vi-VN" sz="1700"/>
          </a:p>
        </p:txBody>
      </p:sp>
      <p:sp>
        <p:nvSpPr>
          <p:cNvPr id="6" name="Text 6"/>
          <p:cNvSpPr txBox="1"/>
          <p:nvPr/>
        </p:nvSpPr>
        <p:spPr>
          <a:xfrm>
            <a:off x="900000" y="3550000"/>
            <a:ext cx="10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0">
                <a:solidFill>
                  <a:srgbClr val="475569"/>
                </a:solidFill>
                <a:latin typeface="Be Vietnam Pro"/>
              </a:rPr>
              <a:t xml:space="preserve">? Demo, k?t qu? ?o v? chi ph?</a:t>
            </a:r>
            <a:endParaRPr lang="vi-VN" sz="1700"/>
          </a:p>
        </p:txBody>
      </p:sp>
      <p:sp>
        <p:nvSpPr>
          <p:cNvPr id="7" name="Text 7"/>
          <p:cNvSpPr txBox="1"/>
          <p:nvPr/>
        </p:nvSpPr>
        <p:spPr>
          <a:xfrm>
            <a:off x="900000" y="4350000"/>
            <a:ext cx="10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0">
                <a:solidFill>
                  <a:srgbClr val="475569"/>
                </a:solidFill>
                <a:latin typeface="Be Vietnam Pro"/>
              </a:rPr>
              <a:t xml:space="preserve">? H?n ch?, h??ng ph?t tri?n, Q&amp;A</a:t>
            </a:r>
            <a:endParaRPr lang="vi-VN" sz="1700"/>
          </a:p>
        </p:txBody>
      </p:sp>
      <p:sp>
        <p:nvSpPr>
          <p:cNvPr id="99" name="Text 99"/>
          <p:cNvSpPr txBox="1"/>
          <p:nvPr/>
        </p:nvSpPr>
        <p:spPr>
          <a:xfrm>
            <a:off x="720000" y="638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900" b="0">
                <a:solidFill>
                  <a:srgbClr val="64748B"/>
                </a:solidFill>
                <a:latin typeface="Be Vietnam Pro"/>
              </a:rPr>
              <a:t xml:space="preserve">LinkPulse  |  Template 16:9  |  Be Vietnam Pro + JetBrains Mono</a:t>
            </a:r>
            <a:endParaRPr lang="vi-V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38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3000" b="1">
                <a:solidFill>
                  <a:srgbClr val="0F172A"/>
                </a:solidFill>
                <a:latin typeface="Be Vietnam Pro"/>
              </a:rPr>
              <a:t xml:space="preserve">M?u n?i dung</a:t>
            </a:r>
            <a:endParaRPr lang="vi-VN" sz="3000"/>
          </a:p>
        </p:txBody>
      </p:sp>
      <p:sp>
        <p:nvSpPr>
          <p:cNvPr id="3" name="Text 3"/>
          <p:cNvSpPr txBox="1"/>
          <p:nvPr/>
        </p:nvSpPr>
        <p:spPr>
          <a:xfrm>
            <a:off x="720000" y="112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1">
                <a:solidFill>
                  <a:srgbClr val="4F46E5"/>
                </a:solidFill>
                <a:latin typeface="Be Vietnam Pro"/>
              </a:rPr>
              <a:t xml:space="preserve">M?t th?ng ?i?p ch?nh, t?i ?a b?n ?</a:t>
            </a:r>
            <a:endParaRPr lang="vi-VN" sz="1700"/>
          </a:p>
        </p:txBody>
      </p:sp>
      <p:sp>
        <p:nvSpPr>
          <p:cNvPr id="4" name="Text 4"/>
          <p:cNvSpPr txBox="1"/>
          <p:nvPr/>
        </p:nvSpPr>
        <p:spPr>
          <a:xfrm>
            <a:off x="900000" y="1950000"/>
            <a:ext cx="10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0">
                <a:solidFill>
                  <a:srgbClr val="475569"/>
                </a:solidFill>
                <a:latin typeface="Be Vietnam Pro"/>
              </a:rPr>
              <a:t xml:space="preserve">? V?n ??: link d?i kh? chia s? v? kh? theo d?i.</a:t>
            </a:r>
            <a:endParaRPr lang="vi-VN" sz="1700"/>
          </a:p>
        </p:txBody>
      </p:sp>
      <p:sp>
        <p:nvSpPr>
          <p:cNvPr id="5" name="Text 5"/>
          <p:cNvSpPr txBox="1"/>
          <p:nvPr/>
        </p:nvSpPr>
        <p:spPr>
          <a:xfrm>
            <a:off x="900000" y="2750000"/>
            <a:ext cx="10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0">
                <a:solidFill>
                  <a:srgbClr val="475569"/>
                </a:solidFill>
                <a:latin typeface="Be Vietnam Pro"/>
              </a:rPr>
              <a:t xml:space="preserve">? Gi?i ph?p: t?o alias, redirect v? t?ng h?p l??t click.</a:t>
            </a:r>
            <a:endParaRPr lang="vi-VN" sz="1700"/>
          </a:p>
        </p:txBody>
      </p:sp>
      <p:sp>
        <p:nvSpPr>
          <p:cNvPr id="6" name="Text 6"/>
          <p:cNvSpPr txBox="1"/>
          <p:nvPr/>
        </p:nvSpPr>
        <p:spPr>
          <a:xfrm>
            <a:off x="900000" y="3550000"/>
            <a:ext cx="10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0">
                <a:solidFill>
                  <a:srgbClr val="475569"/>
                </a:solidFill>
                <a:latin typeface="Be Vietnam Pro"/>
              </a:rPr>
              <a:t xml:space="preserve">? B?o v?: validate, rate limit, blocklist v? WAF.</a:t>
            </a:r>
            <a:endParaRPr lang="vi-VN" sz="1700"/>
          </a:p>
        </p:txBody>
      </p:sp>
      <p:sp>
        <p:nvSpPr>
          <p:cNvPr id="7" name="Text 7"/>
          <p:cNvSpPr txBox="1"/>
          <p:nvPr/>
        </p:nvSpPr>
        <p:spPr>
          <a:xfrm>
            <a:off x="900000" y="4350000"/>
            <a:ext cx="10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0">
                <a:solidFill>
                  <a:srgbClr val="475569"/>
                </a:solidFill>
                <a:latin typeface="Be Vietnam Pro"/>
              </a:rPr>
              <a:t xml:space="preserve">? K?t qu? c?n ghi r? ?i?u ki?n ?o v? ngu?n d? li?u.</a:t>
            </a:r>
            <a:endParaRPr lang="vi-VN" sz="1700"/>
          </a:p>
        </p:txBody>
      </p:sp>
      <p:sp>
        <p:nvSpPr>
          <p:cNvPr id="99" name="Text 99"/>
          <p:cNvSpPr txBox="1"/>
          <p:nvPr/>
        </p:nvSpPr>
        <p:spPr>
          <a:xfrm>
            <a:off x="720000" y="638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900" b="0">
                <a:solidFill>
                  <a:srgbClr val="64748B"/>
                </a:solidFill>
                <a:latin typeface="Be Vietnam Pro"/>
              </a:rPr>
              <a:t xml:space="preserve">LinkPulse  |  Template 16:9  |  Be Vietnam Pro + JetBrains Mono</a:t>
            </a:r>
            <a:endParaRPr lang="vi-V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38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3000" b="1">
                <a:solidFill>
                  <a:srgbClr val="0F172A"/>
                </a:solidFill>
                <a:latin typeface="Be Vietnam Pro"/>
              </a:rPr>
              <a:t xml:space="preserve">M?u s? ??</a:t>
            </a:r>
            <a:endParaRPr lang="vi-VN" sz="3000"/>
          </a:p>
        </p:txBody>
      </p:sp>
      <p:sp>
        <p:nvSpPr>
          <p:cNvPr id="3" name="Text 3"/>
          <p:cNvSpPr txBox="1"/>
          <p:nvPr/>
        </p:nvSpPr>
        <p:spPr>
          <a:xfrm>
            <a:off x="720000" y="112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1">
                <a:solidFill>
                  <a:srgbClr val="4F46E5"/>
                </a:solidFill>
                <a:latin typeface="Be Vietnam Pro"/>
              </a:rPr>
              <a:t xml:space="preserve">Ki?n tr?c Serverless</a:t>
            </a:r>
            <a:endParaRPr lang="vi-VN" sz="1700"/>
          </a:p>
        </p:txBody>
      </p:sp>
      <p:sp>
        <p:nvSpPr>
          <p:cNvPr id="4" name="Text 4"/>
          <p:cNvSpPr txBox="1"/>
          <p:nvPr/>
        </p:nvSpPr>
        <p:spPr>
          <a:xfrm>
            <a:off x="1100000" y="1950000"/>
            <a:ext cx="10000000" cy="56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50" b="1">
                <a:solidFill>
                  <a:srgbClr val="0F172A"/>
                </a:solidFill>
                <a:latin typeface="Be Vietnam Pro"/>
              </a:rPr>
              <a:t xml:space="preserve">Ng??i d?ng ? CloudFront + WAF</a:t>
            </a:r>
            <a:endParaRPr lang="vi-VN" sz="1750"/>
          </a:p>
        </p:txBody>
      </p:sp>
      <p:sp>
        <p:nvSpPr>
          <p:cNvPr id="5" name="Text 5"/>
          <p:cNvSpPr txBox="1"/>
          <p:nvPr/>
        </p:nvSpPr>
        <p:spPr>
          <a:xfrm>
            <a:off x="1100000" y="2800000"/>
            <a:ext cx="100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50" b="0">
                <a:solidFill>
                  <a:srgbClr val="0F172A"/>
                </a:solidFill>
                <a:latin typeface="Be Vietnam Pro"/>
              </a:rPr>
              <a:t xml:space="preserve">CloudFront ? S3 private (OAC) / API Gateway</a:t>
            </a:r>
            <a:endParaRPr lang="vi-VN" sz="1750"/>
          </a:p>
        </p:txBody>
      </p:sp>
      <p:sp>
        <p:nvSpPr>
          <p:cNvPr id="6" name="Text 6"/>
          <p:cNvSpPr txBox="1"/>
          <p:nvPr/>
        </p:nvSpPr>
        <p:spPr>
          <a:xfrm>
            <a:off x="1100000" y="3650000"/>
            <a:ext cx="10000000" cy="56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50" b="0">
                <a:solidFill>
                  <a:srgbClr val="0F172A"/>
                </a:solidFill>
                <a:latin typeface="Be Vietnam Pro"/>
              </a:rPr>
              <a:t xml:space="preserve">API Gateway ? Lambda ? DynamoDB</a:t>
            </a:r>
            <a:endParaRPr lang="vi-VN" sz="1750"/>
          </a:p>
        </p:txBody>
      </p:sp>
      <p:sp>
        <p:nvSpPr>
          <p:cNvPr id="7" name="Text 7"/>
          <p:cNvSpPr txBox="1"/>
          <p:nvPr/>
        </p:nvSpPr>
        <p:spPr>
          <a:xfrm>
            <a:off x="1100000" y="4500000"/>
            <a:ext cx="100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50" b="0">
                <a:solidFill>
                  <a:srgbClr val="0F172A"/>
                </a:solidFill>
                <a:latin typeface="Be Vietnam Pro"/>
              </a:rPr>
              <a:t xml:space="preserve">DynamoDB Streams ? Lambda analytics ? stats</a:t>
            </a:r>
            <a:endParaRPr lang="vi-VN" sz="1750"/>
          </a:p>
        </p:txBody>
      </p:sp>
      <p:sp>
        <p:nvSpPr>
          <p:cNvPr id="99" name="Text 99"/>
          <p:cNvSpPr txBox="1"/>
          <p:nvPr/>
        </p:nvSpPr>
        <p:spPr>
          <a:xfrm>
            <a:off x="720000" y="638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900" b="0">
                <a:solidFill>
                  <a:srgbClr val="64748B"/>
                </a:solidFill>
                <a:latin typeface="Be Vietnam Pro"/>
              </a:rPr>
              <a:t xml:space="preserve">LinkPulse  |  Template 16:9  |  Be Vietnam Pro + JetBrains Mono</a:t>
            </a:r>
            <a:endParaRPr lang="vi-V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38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3000" b="1">
                <a:solidFill>
                  <a:srgbClr val="0F172A"/>
                </a:solidFill>
                <a:latin typeface="Be Vietnam Pro"/>
              </a:rPr>
              <a:t xml:space="preserve">M?u b?ng s? li?u</a:t>
            </a:r>
            <a:endParaRPr lang="vi-VN" sz="3000"/>
          </a:p>
        </p:txBody>
      </p:sp>
      <p:sp>
        <p:nvSpPr>
          <p:cNvPr id="3" name="Text 3"/>
          <p:cNvSpPr txBox="1"/>
          <p:nvPr/>
        </p:nvSpPr>
        <p:spPr>
          <a:xfrm>
            <a:off x="720000" y="112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1">
                <a:solidFill>
                  <a:srgbClr val="4F46E5"/>
                </a:solidFill>
                <a:latin typeface="Be Vietnam Pro"/>
              </a:rPr>
              <a:t xml:space="preserve">K?t qu? ?o ? ?i?n s? li?u ?? ch?y</a:t>
            </a:r>
            <a:endParaRPr lang="vi-VN" sz="1700"/>
          </a:p>
        </p:txBody>
      </p:sp>
      <p:sp>
        <p:nvSpPr>
          <p:cNvPr id="4" name="Text 4"/>
          <p:cNvSpPr txBox="1"/>
          <p:nvPr/>
        </p:nvSpPr>
        <p:spPr>
          <a:xfrm>
            <a:off x="800000" y="1900000"/>
            <a:ext cx="11000000" cy="54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450" b="1">
                <a:solidFill>
                  <a:srgbClr val="0F172A"/>
                </a:solidFill>
                <a:latin typeface="Be Vietnam Pro"/>
              </a:rPr>
              <a:t xml:space="preserve">Ch? s?                 | Gi? tr? | ?i?u ki?n ?o</a:t>
            </a:r>
            <a:endParaRPr lang="vi-VN" sz="1450"/>
          </a:p>
        </p:txBody>
      </p:sp>
      <p:sp>
        <p:nvSpPr>
          <p:cNvPr id="5" name="Text 5"/>
          <p:cNvSpPr txBox="1"/>
          <p:nvPr/>
        </p:nvSpPr>
        <p:spPr>
          <a:xfrm>
            <a:off x="800000" y="2620000"/>
            <a:ext cx="1100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450" b="0">
                <a:solidFill>
                  <a:srgbClr val="0F172A"/>
                </a:solidFill>
                <a:latin typeface="Be Vietnam Pro"/>
              </a:rPr>
              <a:t xml:space="preserve">Th?i gian t?o link     | [?i?n]  | [region/t?i]</a:t>
            </a:r>
            <a:endParaRPr lang="vi-VN" sz="1450"/>
          </a:p>
        </p:txBody>
      </p:sp>
      <p:sp>
        <p:nvSpPr>
          <p:cNvPr id="6" name="Text 6"/>
          <p:cNvSpPr txBox="1"/>
          <p:nvPr/>
        </p:nvSpPr>
        <p:spPr>
          <a:xfrm>
            <a:off x="800000" y="3340000"/>
            <a:ext cx="1100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450" b="0">
                <a:solidFill>
                  <a:srgbClr val="0F172A"/>
                </a:solidFill>
                <a:latin typeface="Be Vietnam Pro"/>
              </a:rPr>
              <a:t xml:space="preserve">Th?i gian redirect     | [?i?n]  | [region/t?i]</a:t>
            </a:r>
            <a:endParaRPr lang="vi-VN" sz="1450"/>
          </a:p>
        </p:txBody>
      </p:sp>
      <p:sp>
        <p:nvSpPr>
          <p:cNvPr id="7" name="Text 7"/>
          <p:cNvSpPr txBox="1"/>
          <p:nvPr/>
        </p:nvSpPr>
        <p:spPr>
          <a:xfrm>
            <a:off x="800000" y="4060000"/>
            <a:ext cx="1100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450" b="0">
                <a:solidFill>
                  <a:srgbClr val="0F172A"/>
                </a:solidFill>
                <a:latin typeface="Be Vietnam Pro"/>
              </a:rPr>
              <a:t xml:space="preserve">?? tr? c?p nh?t stats  | [?i?n]  | [s? m?u]</a:t>
            </a:r>
            <a:endParaRPr lang="vi-VN" sz="1450"/>
          </a:p>
        </p:txBody>
      </p:sp>
      <p:sp>
        <p:nvSpPr>
          <p:cNvPr id="99" name="Text 99"/>
          <p:cNvSpPr txBox="1"/>
          <p:nvPr/>
        </p:nvSpPr>
        <p:spPr>
          <a:xfrm>
            <a:off x="720000" y="638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900" b="0">
                <a:solidFill>
                  <a:srgbClr val="64748B"/>
                </a:solidFill>
                <a:latin typeface="Be Vietnam Pro"/>
              </a:rPr>
              <a:t xml:space="preserve">LinkPulse  |  Template 16:9  |  Be Vietnam Pro + JetBrains Mono</a:t>
            </a:r>
            <a:endParaRPr lang="vi-V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380000"/>
            <a:ext cx="108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3000" b="1">
                <a:solidFill>
                  <a:srgbClr val="0F172A"/>
                </a:solidFill>
                <a:latin typeface="Be Vietnam Pro"/>
              </a:rPr>
              <a:t xml:space="preserve">M?u demo</a:t>
            </a:r>
            <a:endParaRPr lang="vi-VN" sz="3000"/>
          </a:p>
        </p:txBody>
      </p:sp>
      <p:sp>
        <p:nvSpPr>
          <p:cNvPr id="3" name="Text 3"/>
          <p:cNvSpPr txBox="1"/>
          <p:nvPr/>
        </p:nvSpPr>
        <p:spPr>
          <a:xfrm>
            <a:off x="720000" y="112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700" b="1">
                <a:solidFill>
                  <a:srgbClr val="4F46E5"/>
                </a:solidFill>
                <a:latin typeface="Be Vietnam Pro"/>
              </a:rPr>
              <a:t xml:space="preserve">Tr?nh di?n lu?ng s?n ph?m</a:t>
            </a:r>
            <a:endParaRPr lang="vi-VN" sz="1700"/>
          </a:p>
        </p:txBody>
      </p:sp>
      <p:sp>
        <p:nvSpPr>
          <p:cNvPr id="4" name="Text 4"/>
          <p:cNvSpPr txBox="1"/>
          <p:nvPr/>
        </p:nvSpPr>
        <p:spPr>
          <a:xfrm>
            <a:off x="850000" y="1900000"/>
            <a:ext cx="10500000" cy="15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2200" b="1">
                <a:solidFill>
                  <a:srgbClr val="4338CA"/>
                </a:solidFill>
                <a:latin typeface="Be Vietnam Pro"/>
              </a:rPr>
              <a:t xml:space="preserve">KHU V?C DEMO / ?NH Figma</a:t>
            </a:r>
            <a:endParaRPr lang="vi-VN" sz="2200"/>
          </a:p>
        </p:txBody>
      </p:sp>
      <p:sp>
        <p:nvSpPr>
          <p:cNvPr id="5" name="Text 5"/>
          <p:cNvSpPr txBox="1"/>
          <p:nvPr/>
        </p:nvSpPr>
        <p:spPr>
          <a:xfrm>
            <a:off x="1000000" y="365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450" b="0">
                <a:solidFill>
                  <a:srgbClr val="475569"/>
                </a:solidFill>
                <a:latin typeface="Be Vietnam Pro"/>
              </a:rPr>
              <a:t xml:space="preserve">1. T?o link h?p l? v? sao ch?p k?t qu?</a:t>
            </a:r>
            <a:endParaRPr lang="vi-VN" sz="1450"/>
          </a:p>
        </p:txBody>
      </p:sp>
      <p:sp>
        <p:nvSpPr>
          <p:cNvPr id="6" name="Text 6"/>
          <p:cNvSpPr txBox="1"/>
          <p:nvPr/>
        </p:nvSpPr>
        <p:spPr>
          <a:xfrm>
            <a:off x="1000000" y="421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450" b="0">
                <a:solidFill>
                  <a:srgbClr val="475569"/>
                </a:solidFill>
                <a:latin typeface="Be Vietnam Pro"/>
              </a:rPr>
              <a:t xml:space="preserve">2. Th? duplicate, alias tr?ng v? rate limit</a:t>
            </a:r>
            <a:endParaRPr lang="vi-VN" sz="1450"/>
          </a:p>
        </p:txBody>
      </p:sp>
      <p:sp>
        <p:nvSpPr>
          <p:cNvPr id="7" name="Text 7"/>
          <p:cNvSpPr txBox="1"/>
          <p:nvPr/>
        </p:nvSpPr>
        <p:spPr>
          <a:xfrm>
            <a:off x="1000000" y="477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450" b="0">
                <a:solidFill>
                  <a:srgbClr val="475569"/>
                </a:solidFill>
                <a:latin typeface="Be Vietnam Pro"/>
              </a:rPr>
              <a:t xml:space="preserve">3. M? dashboard v? c?p nh?t s? li?u</a:t>
            </a:r>
            <a:endParaRPr lang="vi-VN" sz="1450"/>
          </a:p>
        </p:txBody>
      </p:sp>
      <p:sp>
        <p:nvSpPr>
          <p:cNvPr id="8" name="Text 8"/>
          <p:cNvSpPr txBox="1"/>
          <p:nvPr/>
        </p:nvSpPr>
        <p:spPr>
          <a:xfrm>
            <a:off x="1000000" y="533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1450" b="0">
                <a:solidFill>
                  <a:srgbClr val="475569"/>
                </a:solidFill>
                <a:latin typeface="Be Vietnam Pro"/>
              </a:rPr>
              <a:t xml:space="preserve">4. Minh h?a blocked / expired / 404</a:t>
            </a:r>
            <a:endParaRPr lang="vi-VN" sz="1450"/>
          </a:p>
        </p:txBody>
      </p:sp>
      <p:sp>
        <p:nvSpPr>
          <p:cNvPr id="99" name="Text 99"/>
          <p:cNvSpPr txBox="1"/>
          <p:nvPr/>
        </p:nvSpPr>
        <p:spPr>
          <a:xfrm>
            <a:off x="720000" y="6380000"/>
            <a:ext cx="10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vi-VN" sz="900" b="0">
                <a:solidFill>
                  <a:srgbClr val="64748B"/>
                </a:solidFill>
                <a:latin typeface="Be Vietnam Pro"/>
              </a:rPr>
              <a:t xml:space="preserve">LinkPulse  |  Template 16:9  |  Be Vietnam Pro + JetBrains Mono</a:t>
            </a:r>
            <a:endParaRPr lang="vi-V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kPulse">
  <a:themeElements>
    <a:clrScheme name="LinkPulse">
      <a:dk1>
        <a:srgbClr val="0F172A"/>
      </a:dk1>
      <a:lt1>
        <a:srgbClr val="FFFFFF"/>
      </a:lt1>
      <a:dk2>
        <a:srgbClr val="475569"/>
      </a:dk2>
      <a:lt2>
        <a:srgbClr val="F8FAFC"/>
      </a:lt2>
      <a:accent1>
        <a:srgbClr val="4F46E5"/>
      </a:accent1>
      <a:accent2>
        <a:srgbClr val="10B981"/>
      </a:accent2>
      <a:accent3>
        <a:srgbClr val="F59E0B"/>
      </a:accent3>
      <a:accent4>
        <a:srgbClr val="EC4899"/>
      </a:accent4>
      <a:accent5>
        <a:srgbClr val="0EA5E9"/>
      </a:accent5>
      <a:accent6>
        <a:srgbClr val="4338CA"/>
      </a:accent6>
      <a:hlink>
        <a:srgbClr val="4F46E5"/>
      </a:hlink>
      <a:folHlink>
        <a:srgbClr val="4338CA"/>
      </a:folHlink>
    </a:clrScheme>
    <a:fontScheme name="LinkPulse">
      <a:majorFont>
        <a:latin typeface="Be Vietnam Pro"/>
      </a:majorFont>
      <a:minorFont>
        <a:latin typeface="Be Vietnam Pro"/>
      </a:minorFont>
    </a:fontScheme>
    <a:fmtScheme name="LinkPuls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